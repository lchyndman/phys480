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80" r:id="rId3"/>
    <p:sldId id="260" r:id="rId4"/>
    <p:sldId id="278" r:id="rId5"/>
    <p:sldId id="259" r:id="rId6"/>
    <p:sldId id="274" r:id="rId7"/>
    <p:sldId id="267" r:id="rId8"/>
    <p:sldId id="268" r:id="rId9"/>
    <p:sldId id="275" r:id="rId10"/>
    <p:sldId id="269" r:id="rId11"/>
    <p:sldId id="277" r:id="rId12"/>
    <p:sldId id="270" r:id="rId13"/>
    <p:sldId id="271" r:id="rId14"/>
    <p:sldId id="264" r:id="rId15"/>
    <p:sldId id="279" r:id="rId16"/>
    <p:sldId id="262" r:id="rId17"/>
    <p:sldId id="273" r:id="rId18"/>
    <p:sldId id="257" r:id="rId19"/>
    <p:sldId id="26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06E81E-C5BF-4690-81BF-220280BD7055}" type="datetimeFigureOut"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EE6AF1-CB99-499A-A606-39D4D14507F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992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Introduction, Ankur’s previous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E6AF1-CB99-499A-A606-39D4D14507FA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92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E6AF1-CB99-499A-A606-39D4D14507FA}" type="slidenum">
              <a:rPr lang="en-NZ" smtClean="0"/>
              <a:t>3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69929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/>
              <a:t>Define 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E6AF1-CB99-499A-A606-39D4D14507FA}" type="slidenum">
              <a:rPr lang="en-NZ" smtClean="0"/>
              <a:t>7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48532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/>
              <a:t>Simplify.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E6AF1-CB99-499A-A606-39D4D14507FA}" type="slidenum">
              <a:rPr lang="en-NZ" smtClean="0"/>
              <a:t>10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59599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Explain current understanding of neutrino source </a:t>
            </a:r>
            <a:r>
              <a:rPr lang="en-US" err="1">
                <a:ea typeface="Calibri"/>
                <a:cs typeface="Calibri"/>
              </a:rPr>
              <a:t>detectio</a:t>
            </a:r>
            <a:r>
              <a:rPr lang="en-US">
                <a:ea typeface="Calibri"/>
                <a:cs typeface="Calibri"/>
              </a:rP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E6AF1-CB99-499A-A606-39D4D14507FA}" type="slidenum"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303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right star in space&#10;&#10;AI-generated content may be incorrect.">
            <a:extLst>
              <a:ext uri="{FF2B5EF4-FFF2-40B4-BE49-F238E27FC236}">
                <a16:creationId xmlns:a16="http://schemas.microsoft.com/office/drawing/2014/main" id="{E047D9B0-1C74-E691-65AD-8B3A87C0C1E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7161" b="3898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Modelling and Analysis of Multi-Messenger Blazar Spectra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Luke Hyndman – Supervisor: Dr Ankur Sharma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CF5AA-890D-ACAC-4766-FD806792D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>
                <a:latin typeface="Times New Roman" panose="02020603050405020304" pitchFamily="18" charset="0"/>
                <a:cs typeface="Times New Roman" panose="02020603050405020304" pitchFamily="18" charset="0"/>
              </a:rPr>
              <a:t>Blazars and Neutrinos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DACF1-5965-5E73-CD64-408A7A9BD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572" y="1578882"/>
            <a:ext cx="8091715" cy="506979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NZ">
                <a:latin typeface="Times New Roman" panose="02020603050405020304" pitchFamily="18" charset="0"/>
                <a:cs typeface="Times New Roman" panose="02020603050405020304" pitchFamily="18" charset="0"/>
              </a:rPr>
              <a:t>Blazars are a subset of active galactic nuclei (AGN)</a:t>
            </a:r>
          </a:p>
          <a:p>
            <a:r>
              <a:rPr lang="en-NZ">
                <a:latin typeface="Times New Roman" panose="02020603050405020304" pitchFamily="18" charset="0"/>
                <a:cs typeface="Times New Roman" panose="02020603050405020304" pitchFamily="18" charset="0"/>
              </a:rPr>
              <a:t>Accreting super-massive black holes in other galaxies</a:t>
            </a:r>
          </a:p>
          <a:p>
            <a:r>
              <a:rPr lang="en-NZ">
                <a:latin typeface="Times New Roman" panose="02020603050405020304" pitchFamily="18" charset="0"/>
                <a:cs typeface="Times New Roman" panose="02020603050405020304" pitchFamily="18" charset="0"/>
              </a:rPr>
              <a:t>Defining characteristic is a relativistic jet of material pointed along our line of sight (toward earth)</a:t>
            </a:r>
          </a:p>
          <a:p>
            <a:r>
              <a:rPr lang="en-NZ">
                <a:latin typeface="Times New Roman" panose="02020603050405020304" pitchFamily="18" charset="0"/>
                <a:cs typeface="Times New Roman" panose="02020603050405020304" pitchFamily="18" charset="0"/>
              </a:rPr>
              <a:t>EM Spectrum that covers radio to high energy gamma rays</a:t>
            </a:r>
          </a:p>
          <a:p>
            <a:r>
              <a:rPr lang="en-NZ">
                <a:latin typeface="Times New Roman"/>
                <a:cs typeface="Times New Roman"/>
              </a:rPr>
              <a:t>One blazar is a confident (3</a:t>
            </a:r>
            <a:r>
              <a:rPr lang="en-NZ">
                <a:ea typeface="+mn-lt"/>
                <a:cs typeface="+mn-lt"/>
              </a:rPr>
              <a:t>σ</a:t>
            </a:r>
            <a:r>
              <a:rPr lang="en-NZ">
                <a:latin typeface="Times New Roman"/>
                <a:cs typeface="Times New Roman"/>
              </a:rPr>
              <a:t>) neutrino source (TXS-0506+056)</a:t>
            </a:r>
          </a:p>
          <a:p>
            <a:r>
              <a:rPr lang="en-NZ">
                <a:latin typeface="Times New Roman" panose="02020603050405020304" pitchFamily="18" charset="0"/>
                <a:cs typeface="Times New Roman" panose="02020603050405020304" pitchFamily="18" charset="0"/>
              </a:rPr>
              <a:t>We are very interested in finding neutrino sources at high energies</a:t>
            </a:r>
          </a:p>
          <a:p>
            <a:pPr lvl="1"/>
            <a:r>
              <a:rPr lang="en-NZ">
                <a:latin typeface="Times New Roman"/>
                <a:cs typeface="Times New Roman"/>
              </a:rPr>
              <a:t>Difficult as the flux at earth is low, also weakly interacting</a:t>
            </a:r>
          </a:p>
          <a:p>
            <a:r>
              <a:rPr lang="en-NZ">
                <a:latin typeface="Times New Roman" panose="02020603050405020304" pitchFamily="18" charset="0"/>
                <a:cs typeface="Times New Roman" panose="02020603050405020304" pitchFamily="18" charset="0"/>
              </a:rPr>
              <a:t>Most neutrinos are formed in the jet through hadronic processes.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2B83D6-6467-B5FC-077A-BE538AB5E9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686"/>
          <a:stretch>
            <a:fillRect/>
          </a:stretch>
        </p:blipFill>
        <p:spPr>
          <a:xfrm>
            <a:off x="8928554" y="175986"/>
            <a:ext cx="2927350" cy="303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07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EC6CE-5B86-1EB7-5986-E0378819B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F32A1-22C5-40DF-BC6A-217CD16FD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84539"/>
            <a:ext cx="7678057" cy="522945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NZ">
                <a:latin typeface="Times New Roman"/>
                <a:cs typeface="Times New Roman"/>
              </a:rPr>
              <a:t>We think that at least some blazars are neutrino sources. (TXS-0506+056)</a:t>
            </a:r>
          </a:p>
          <a:p>
            <a:pPr marL="457200" indent="-457200"/>
            <a:r>
              <a:rPr lang="en-NZ">
                <a:latin typeface="Times New Roman"/>
                <a:cs typeface="Times New Roman"/>
              </a:rPr>
              <a:t>However, we have few neutrino observations that we can confidently say are connected to blazars.</a:t>
            </a:r>
          </a:p>
          <a:p>
            <a:pPr marL="457200" indent="-457200"/>
            <a:r>
              <a:rPr lang="en-NZ">
                <a:latin typeface="Times New Roman"/>
                <a:cs typeface="Times New Roman"/>
              </a:rPr>
              <a:t>We do have multiwavelength observations of blazar </a:t>
            </a:r>
            <a:r>
              <a:rPr lang="en-NZ" b="1">
                <a:latin typeface="Times New Roman"/>
                <a:cs typeface="Times New Roman"/>
              </a:rPr>
              <a:t>S</a:t>
            </a:r>
            <a:r>
              <a:rPr lang="en-NZ">
                <a:latin typeface="Times New Roman"/>
                <a:cs typeface="Times New Roman"/>
              </a:rPr>
              <a:t>pectral </a:t>
            </a:r>
            <a:r>
              <a:rPr lang="en-NZ" b="1">
                <a:latin typeface="Times New Roman"/>
                <a:cs typeface="Times New Roman"/>
              </a:rPr>
              <a:t>E</a:t>
            </a:r>
            <a:r>
              <a:rPr lang="en-NZ">
                <a:latin typeface="Times New Roman"/>
                <a:cs typeface="Times New Roman"/>
              </a:rPr>
              <a:t>nergy </a:t>
            </a:r>
            <a:r>
              <a:rPr lang="en-NZ" b="1">
                <a:latin typeface="Times New Roman"/>
                <a:cs typeface="Times New Roman"/>
              </a:rPr>
              <a:t>D</a:t>
            </a:r>
            <a:r>
              <a:rPr lang="en-NZ">
                <a:latin typeface="Times New Roman"/>
                <a:cs typeface="Times New Roman"/>
              </a:rPr>
              <a:t>istributions (SEDs)</a:t>
            </a:r>
          </a:p>
          <a:p>
            <a:pPr marL="457200" indent="-457200"/>
            <a:r>
              <a:rPr lang="en-NZ">
                <a:latin typeface="Times New Roman"/>
                <a:cs typeface="Times New Roman"/>
              </a:rPr>
              <a:t>Given multiwavelength SEDs of blazars, what can we deduce about the blazar?</a:t>
            </a:r>
          </a:p>
          <a:p>
            <a:pPr marL="457200" indent="-457200"/>
            <a:r>
              <a:rPr lang="en-NZ">
                <a:latin typeface="Times New Roman"/>
                <a:cs typeface="Times New Roman"/>
              </a:rPr>
              <a:t>Use machine learning to attempt recovery of the parameters of the jet environment. (governs neutrino emission)</a:t>
            </a:r>
          </a:p>
          <a:p>
            <a:pPr marL="457200" indent="-457200"/>
            <a:r>
              <a:rPr lang="en-NZ">
                <a:latin typeface="Times New Roman"/>
                <a:cs typeface="Times New Roman"/>
              </a:rPr>
              <a:t>We will use a simulation engine to build our training set of SEDs. Attempting to cover a large chunk of the parameter space</a:t>
            </a:r>
            <a:endParaRPr lang="en-NZ"/>
          </a:p>
          <a:p>
            <a:pPr marL="457200" indent="-457200"/>
            <a:endParaRPr lang="en-NZ">
              <a:latin typeface="Times New Roman"/>
              <a:cs typeface="Times New Roman"/>
            </a:endParaRPr>
          </a:p>
          <a:p>
            <a:pPr marL="457200" indent="-457200"/>
            <a:endParaRPr lang="en-NZ">
              <a:latin typeface="Times New Roman"/>
              <a:cs typeface="Times New Roman"/>
            </a:endParaRPr>
          </a:p>
          <a:p>
            <a:pPr marL="457200" indent="-457200"/>
            <a:endParaRPr lang="en-NZ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NZ">
              <a:latin typeface="Times New Roman"/>
              <a:cs typeface="Times New Roman"/>
            </a:endParaRPr>
          </a:p>
        </p:txBody>
      </p:sp>
      <p:pic>
        <p:nvPicPr>
          <p:cNvPr id="4" name="Picture 3" descr="NZ scientists explore origins of cosmic rays - Science Media Centre">
            <a:extLst>
              <a:ext uri="{FF2B5EF4-FFF2-40B4-BE49-F238E27FC236}">
                <a16:creationId xmlns:a16="http://schemas.microsoft.com/office/drawing/2014/main" id="{AF186AE6-86DD-594A-8CD8-6EBB75FB0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6509" y="832975"/>
            <a:ext cx="3810870" cy="430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356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69873-1597-7AC6-21E8-1C0C9302F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Why Do This?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0EA64-6F4A-8333-37FA-E2DF74A8A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When we do catalogue searches for neutrino sources, the number of places we look effects the significance of individual trials.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As we look at more of the sky, the chances that we are seeing a background fluctuation increases.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So, we want to be able to deduce the expected neutrino flux and detectability at earth from a source's photon SED.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would allow us to minimize the size of our catalogues for searching to just the most promising for neutrino emitters.</a:t>
            </a:r>
          </a:p>
        </p:txBody>
      </p:sp>
    </p:spTree>
    <p:extLst>
      <p:ext uri="{BB962C8B-B14F-4D97-AF65-F5344CB8AC3E}">
        <p14:creationId xmlns:p14="http://schemas.microsoft.com/office/powerpoint/2010/main" val="3258102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4CAB1-C6BD-00B8-52EB-DC6C7CB4D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High Energy Astro-particle Modelling: AM3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1F873-BDD8-02F2-DAB4-D86FCCFD1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>
                <a:latin typeface="Times New Roman"/>
                <a:cs typeface="Times New Roman"/>
              </a:rPr>
              <a:t>AM³ (Astrophysical Multi-messenger Modelling): approximates the emitting region as a spherical blob moving along the jet axis</a:t>
            </a:r>
            <a:endParaRPr lang="en-US">
              <a:latin typeface="Times New Roman"/>
              <a:cs typeface="Times New Roman"/>
            </a:endParaRPr>
          </a:p>
          <a:p>
            <a:r>
              <a:rPr>
                <a:latin typeface="Times New Roman"/>
                <a:cs typeface="Times New Roman"/>
              </a:rPr>
              <a:t>Time-dependent, self-consistent solver for the coupled evolution of protons, electrons, photons, </a:t>
            </a:r>
            <a:r>
              <a:rPr lang="en-US" err="1">
                <a:latin typeface="Times New Roman"/>
                <a:cs typeface="Times New Roman"/>
              </a:rPr>
              <a:t>pions</a:t>
            </a:r>
            <a:r>
              <a:rPr>
                <a:latin typeface="Times New Roman"/>
                <a:cs typeface="Times New Roman"/>
              </a:rPr>
              <a:t>, muons, and neutrinos in a one-zone mode</a:t>
            </a:r>
            <a:r>
              <a:rPr lang="en-NZ">
                <a:latin typeface="Times New Roman"/>
                <a:cs typeface="Times New Roman"/>
              </a:rPr>
              <a:t>l</a:t>
            </a:r>
            <a:endParaRPr>
              <a:latin typeface="Times New Roman"/>
              <a:cs typeface="Times New Roman"/>
            </a:endParaRPr>
          </a:p>
          <a:p>
            <a:r>
              <a:rPr>
                <a:latin typeface="Times New Roman"/>
                <a:cs typeface="Times New Roman"/>
              </a:rPr>
              <a:t>Tracks the full particle cascade from injection to escape, returning steady-state photon and neutrino SEDs</a:t>
            </a:r>
          </a:p>
        </p:txBody>
      </p:sp>
    </p:spTree>
    <p:extLst>
      <p:ext uri="{BB962C8B-B14F-4D97-AF65-F5344CB8AC3E}">
        <p14:creationId xmlns:p14="http://schemas.microsoft.com/office/powerpoint/2010/main" val="2806013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285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74E549D-2D2B-66CB-E7C4-920D55BFEA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1" t="-1" r="-119" b="16888"/>
          <a:stretch>
            <a:fillRect/>
          </a:stretch>
        </p:blipFill>
        <p:spPr>
          <a:xfrm>
            <a:off x="1402961" y="643467"/>
            <a:ext cx="9386078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821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691677-7B2D-3722-D1B8-06FFF6259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Current SED Generation Pipeline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3CA99A0-9AB7-209A-3DBB-F6F8449285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66085" y="241719"/>
            <a:ext cx="4255019" cy="637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743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67FC8-2ABA-7CE0-C781-D3300FE56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943" y="1825625"/>
            <a:ext cx="10515600" cy="46488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>
                <a:latin typeface="Times New Roman"/>
                <a:cs typeface="Times New Roman"/>
              </a:rPr>
              <a:t>Gradient-boosted histogram regression (Scikit-learn</a:t>
            </a:r>
            <a:r>
              <a:rPr lang="en-US">
                <a:latin typeface="Times New Roman"/>
                <a:cs typeface="Times New Roman"/>
              </a:rPr>
              <a:t>)</a:t>
            </a:r>
          </a:p>
          <a:p>
            <a:r>
              <a:rPr lang="en-NZ">
                <a:latin typeface="Times New Roman"/>
                <a:cs typeface="Times New Roman"/>
              </a:rPr>
              <a:t>Attempting to return a parameter from just the SED</a:t>
            </a:r>
            <a:endParaRPr lang="en-US">
              <a:latin typeface="Times New Roman"/>
              <a:cs typeface="Times New Roman"/>
            </a:endParaRPr>
          </a:p>
          <a:p>
            <a:r>
              <a:rPr lang="en-NZ" b="1">
                <a:latin typeface="Times New Roman"/>
                <a:cs typeface="Times New Roman"/>
              </a:rPr>
              <a:t>3 Cases: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NZ">
                <a:latin typeface="Times New Roman"/>
                <a:cs typeface="Times New Roman"/>
              </a:rPr>
              <a:t>Photon SED only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>
                <a:latin typeface="Times New Roman"/>
                <a:cs typeface="Times New Roman"/>
              </a:rPr>
              <a:t>Adding neutrino SEDs as extra features</a:t>
            </a:r>
            <a:r>
              <a:rPr lang="en-US" sz="2000">
                <a:latin typeface="Times New Roman"/>
                <a:cs typeface="Times New Roman"/>
              </a:rPr>
              <a:t> (</a:t>
            </a:r>
            <a:r>
              <a:rPr lang="en-US">
                <a:latin typeface="Times New Roman"/>
                <a:cs typeface="Times New Roman"/>
              </a:rPr>
              <a:t>Not observationally realistic)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cs typeface="Times New Roman"/>
              </a:rPr>
              <a:t>Masking of photon SED (Flux weighted, observationally realistic)</a:t>
            </a:r>
            <a:endParaRPr lang="en-US" sz="28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004806-19E8-7F30-DEAD-681C04852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Machine Learning Based Regression</a:t>
            </a:r>
          </a:p>
        </p:txBody>
      </p:sp>
    </p:spTree>
    <p:extLst>
      <p:ext uri="{BB962C8B-B14F-4D97-AF65-F5344CB8AC3E}">
        <p14:creationId xmlns:p14="http://schemas.microsoft.com/office/powerpoint/2010/main" val="2154797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29B49-2569-B1A2-A504-3E936B9AD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Stacked Regression Results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275BE80-9BE4-6CDC-927C-AC878EF805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9103" y="1375682"/>
            <a:ext cx="10390423" cy="530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532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96FB9C-6C3B-CE8A-D46B-F554586E3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253" y="428685"/>
            <a:ext cx="5381752" cy="1476801"/>
          </a:xfrm>
        </p:spPr>
        <p:txBody>
          <a:bodyPr anchor="b">
            <a:normAutofit fontScale="90000"/>
          </a:bodyPr>
          <a:lstStyle/>
          <a:p>
            <a:r>
              <a:rPr lang="en-US" sz="5000">
                <a:latin typeface="Times New Roman"/>
                <a:cs typeface="Times New Roman"/>
              </a:rPr>
              <a:t>IceCube Detectability (Neutrinos)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A80F36-C7EB-4DFE-36BA-5958BC487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5" y="1240390"/>
            <a:ext cx="6089904" cy="4674000"/>
          </a:xfrm>
          <a:prstGeom prst="rect">
            <a:avLst/>
          </a:pr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E5F2B-C26E-78AD-BAAC-C5D2DD382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1631" cy="34782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 sz="2000">
                <a:latin typeface="Times New Roman"/>
                <a:cs typeface="Times New Roman"/>
              </a:rPr>
              <a:t>Calculate expected signal events for source</a:t>
            </a:r>
          </a:p>
          <a:p>
            <a:pPr marL="457200" indent="-457200"/>
            <a:r>
              <a:rPr lang="en-US" sz="2000">
                <a:latin typeface="Times New Roman"/>
                <a:cs typeface="Times New Roman"/>
              </a:rPr>
              <a:t>Calculate expected events for hypothetical source at sensitivity</a:t>
            </a:r>
          </a:p>
          <a:p>
            <a:pPr marL="457200" indent="-457200"/>
            <a:r>
              <a:rPr lang="en-US" sz="2000">
                <a:latin typeface="Times New Roman"/>
                <a:cs typeface="Times New Roman"/>
              </a:rPr>
              <a:t>Find ratio of events by declination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76D210-DC45-F3D9-27BE-C07415C721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479" y="4658514"/>
            <a:ext cx="4251325" cy="147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970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01FFA0B-7599-1BEA-884E-7B45F2FEBF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716364"/>
            <a:ext cx="10905066" cy="542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121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E0C67-2209-7E9F-9522-999792CC8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Caveats and Drawbacks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A5F0A-A233-5CCC-7953-F20023E82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>
                <a:latin typeface="Times New Roman"/>
                <a:cs typeface="Times New Roman"/>
              </a:rPr>
              <a:t>Many simulation assumptions and fixed parameters not yet varied (e.g. black hole mass, disk/torus geometry constants)</a:t>
            </a:r>
            <a:endParaRPr lang="en-US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cs typeface="Times New Roman"/>
              </a:rPr>
              <a:t>Could be important for delineation of blazar subclasses</a:t>
            </a:r>
          </a:p>
          <a:p>
            <a:r>
              <a:rPr>
                <a:latin typeface="Times New Roman"/>
                <a:cs typeface="Times New Roman"/>
              </a:rPr>
              <a:t>Training set is still small relative to the full accessible parameter space</a:t>
            </a:r>
            <a:r>
              <a:rPr lang="en-NZ">
                <a:latin typeface="Times New Roman"/>
                <a:cs typeface="Times New Roman"/>
              </a:rPr>
              <a:t> ~100k</a:t>
            </a:r>
            <a:endParaRPr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cs typeface="Times New Roman"/>
              </a:rPr>
              <a:t>Sensitivity ratio contains some baked in assumptions about neutrino flux power law that may not hold.</a:t>
            </a:r>
          </a:p>
          <a:p>
            <a:r>
              <a:rPr lang="en-US" b="1">
                <a:latin typeface="Times New Roman"/>
                <a:cs typeface="Times New Roman"/>
              </a:rPr>
              <a:t>The results presented are very preliminary</a:t>
            </a:r>
          </a:p>
        </p:txBody>
      </p:sp>
    </p:spTree>
    <p:extLst>
      <p:ext uri="{BB962C8B-B14F-4D97-AF65-F5344CB8AC3E}">
        <p14:creationId xmlns:p14="http://schemas.microsoft.com/office/powerpoint/2010/main" val="1170020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EEEE5-5B90-14A6-55B8-6B5120768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D6E65-F052-132C-A3B1-C2362AE84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>
                <a:latin typeface="Times New Roman"/>
                <a:cs typeface="Times New Roman"/>
              </a:rPr>
              <a:t>Explore other regression models for stronger results, especially for masked and maximum-energy parameters</a:t>
            </a:r>
            <a:endParaRPr lang="en-US">
              <a:latin typeface="Times New Roman"/>
              <a:cs typeface="Times New Roman"/>
            </a:endParaRPr>
          </a:p>
          <a:p>
            <a:r>
              <a:rPr>
                <a:latin typeface="Times New Roman"/>
                <a:cs typeface="Times New Roman"/>
              </a:rPr>
              <a:t>More rigorous sensitivity and discovery-potential modelling, accounting for non-power-law spectral shapes</a:t>
            </a:r>
            <a:endParaRPr lang="en-NZ">
              <a:latin typeface="Times New Roman"/>
              <a:cs typeface="Times New Roman"/>
            </a:endParaRPr>
          </a:p>
          <a:p>
            <a:r>
              <a:rPr lang="en-NZ">
                <a:latin typeface="Times New Roman"/>
                <a:cs typeface="Times New Roman"/>
              </a:rPr>
              <a:t>Reducing our parameter space and/or implementing correlations between samples. </a:t>
            </a:r>
          </a:p>
          <a:p>
            <a:pPr marL="0" indent="0">
              <a:buNone/>
            </a:pPr>
            <a:r>
              <a:rPr lang="en-US" b="1">
                <a:latin typeface="Times New Roman"/>
                <a:cs typeface="Times New Roman"/>
              </a:rPr>
              <a:t>Semi-Final Goal:</a:t>
            </a:r>
          </a:p>
          <a:p>
            <a:pPr marL="0" indent="0">
              <a:buNone/>
            </a:pPr>
            <a:r>
              <a:rPr lang="en-US">
                <a:latin typeface="Times New Roman"/>
                <a:cs typeface="Times New Roman"/>
              </a:rPr>
              <a:t>Return neutrino SED (or maybe peak position) from a masked photon SED -&gt; Ideal for real world catalogue search selection.</a:t>
            </a:r>
          </a:p>
        </p:txBody>
      </p:sp>
    </p:spTree>
    <p:extLst>
      <p:ext uri="{BB962C8B-B14F-4D97-AF65-F5344CB8AC3E}">
        <p14:creationId xmlns:p14="http://schemas.microsoft.com/office/powerpoint/2010/main" val="4278402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B700-256E-0B04-6735-26893772F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6DB75-17C6-D0E9-8E22-64CB93771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2596"/>
            <a:ext cx="10515600" cy="37417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ts val="200"/>
              </a:spcBef>
            </a:pPr>
            <a:r>
              <a:rPr>
                <a:latin typeface="Times New Roman"/>
                <a:cs typeface="Times New Roman"/>
              </a:rPr>
              <a:t>Aartsen et al. 2017, </a:t>
            </a:r>
            <a:r>
              <a:rPr err="1">
                <a:latin typeface="Times New Roman"/>
                <a:cs typeface="Times New Roman"/>
              </a:rPr>
              <a:t>ApJ</a:t>
            </a:r>
            <a:r>
              <a:rPr>
                <a:latin typeface="Times New Roman"/>
                <a:cs typeface="Times New Roman"/>
              </a:rPr>
              <a:t> 835, 45</a:t>
            </a:r>
            <a:endParaRPr lang="en-US">
              <a:latin typeface="Times New Roman"/>
              <a:cs typeface="Times New Roman"/>
            </a:endParaRPr>
          </a:p>
          <a:p>
            <a:pPr>
              <a:spcBef>
                <a:spcPts val="200"/>
              </a:spcBef>
            </a:pPr>
            <a:r>
              <a:rPr>
                <a:latin typeface="Times New Roman"/>
                <a:cs typeface="Times New Roman"/>
              </a:rPr>
              <a:t>Abbasi et al. 2026, </a:t>
            </a:r>
            <a:r>
              <a:rPr err="1">
                <a:latin typeface="Times New Roman"/>
                <a:cs typeface="Times New Roman"/>
              </a:rPr>
              <a:t>ApJ</a:t>
            </a:r>
            <a:r>
              <a:rPr>
                <a:latin typeface="Times New Roman"/>
                <a:cs typeface="Times New Roman"/>
              </a:rPr>
              <a:t> 998, 37</a:t>
            </a:r>
          </a:p>
          <a:p>
            <a:pPr>
              <a:spcBef>
                <a:spcPts val="200"/>
              </a:spcBef>
            </a:pPr>
            <a:r>
              <a:rPr>
                <a:latin typeface="Times New Roman"/>
                <a:cs typeface="Times New Roman"/>
              </a:rPr>
              <a:t>Klinger et al. 2024, </a:t>
            </a:r>
            <a:r>
              <a:rPr err="1">
                <a:latin typeface="Times New Roman"/>
                <a:cs typeface="Times New Roman"/>
              </a:rPr>
              <a:t>ApJS</a:t>
            </a:r>
            <a:r>
              <a:rPr>
                <a:latin typeface="Times New Roman"/>
                <a:cs typeface="Times New Roman"/>
              </a:rPr>
              <a:t> 275, 4</a:t>
            </a:r>
          </a:p>
          <a:p>
            <a:pPr>
              <a:spcBef>
                <a:spcPts val="200"/>
              </a:spcBef>
            </a:pPr>
            <a:r>
              <a:rPr>
                <a:latin typeface="Times New Roman"/>
                <a:cs typeface="Times New Roman"/>
              </a:rPr>
              <a:t>Pedregosa et al. 2011, JMLR 12, 2825</a:t>
            </a:r>
          </a:p>
          <a:p>
            <a:pPr>
              <a:spcBef>
                <a:spcPts val="200"/>
              </a:spcBef>
            </a:pPr>
            <a:r>
              <a:rPr>
                <a:latin typeface="Times New Roman"/>
                <a:cs typeface="Times New Roman"/>
              </a:rPr>
              <a:t>Rodrigues et al. 2024, A&amp;A 681, A119</a:t>
            </a:r>
          </a:p>
          <a:p>
            <a:pPr>
              <a:spcBef>
                <a:spcPts val="200"/>
              </a:spcBef>
            </a:pPr>
            <a:r>
              <a:rPr>
                <a:latin typeface="Times New Roman"/>
                <a:cs typeface="Times New Roman"/>
              </a:rPr>
              <a:t>Urry &amp; Padovani 1995, PASP 107, 803</a:t>
            </a:r>
          </a:p>
          <a:p>
            <a:pPr>
              <a:spcBef>
                <a:spcPts val="200"/>
              </a:spcBef>
            </a:pPr>
            <a:r>
              <a:rPr>
                <a:latin typeface="Times New Roman"/>
                <a:cs typeface="Times New Roman"/>
              </a:rPr>
              <a:t>Waxman &amp; </a:t>
            </a:r>
            <a:r>
              <a:rPr err="1">
                <a:latin typeface="Times New Roman"/>
                <a:cs typeface="Times New Roman"/>
              </a:rPr>
              <a:t>Bahcall</a:t>
            </a:r>
            <a:r>
              <a:rPr>
                <a:latin typeface="Times New Roman"/>
                <a:cs typeface="Times New Roman"/>
              </a:rPr>
              <a:t> 1997, PRL 78, 2292</a:t>
            </a:r>
          </a:p>
          <a:p>
            <a:pPr>
              <a:spcBef>
                <a:spcPts val="200"/>
              </a:spcBef>
            </a:pPr>
            <a:r>
              <a:rPr>
                <a:latin typeface="Times New Roman"/>
                <a:cs typeface="Times New Roman"/>
              </a:rPr>
              <a:t>AM3 documentation: am3.readthedocs.io</a:t>
            </a:r>
          </a:p>
        </p:txBody>
      </p:sp>
    </p:spTree>
    <p:extLst>
      <p:ext uri="{BB962C8B-B14F-4D97-AF65-F5344CB8AC3E}">
        <p14:creationId xmlns:p14="http://schemas.microsoft.com/office/powerpoint/2010/main" val="521823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CD50F-E61E-26BF-B3A8-B64D1C4F5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78485"/>
            <a:ext cx="10515600" cy="1325563"/>
          </a:xfrm>
        </p:spPr>
        <p:txBody>
          <a:bodyPr/>
          <a:lstStyle/>
          <a:p>
            <a:r>
              <a:rPr lang="en-NZ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633199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427781-EEC5-3D85-21B9-AEB8FAF10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600">
                <a:latin typeface="Times New Roman"/>
                <a:cs typeface="Times New Roman"/>
              </a:rPr>
              <a:t>Classification (Backup)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0398F-376C-EB93-982E-5EDA28A2A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145" y="2807208"/>
            <a:ext cx="3907971" cy="367922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latin typeface="Times New Roman"/>
                <a:cs typeface="Times New Roman"/>
              </a:rPr>
              <a:t>Two independent binary labels: significant hadronic component (yes/no), significant external photon field (yes/no) -&gt; 4 source classes</a:t>
            </a:r>
          </a:p>
          <a:p>
            <a:r>
              <a:rPr lang="en-US" sz="2000">
                <a:latin typeface="Times New Roman"/>
                <a:cs typeface="Times New Roman"/>
              </a:rPr>
              <a:t>Same gradient-boosted approach as regression, adapted to 4-class classification.</a:t>
            </a:r>
            <a:r>
              <a:rPr lang="en-US" sz="1500">
                <a:latin typeface="Times New Roman"/>
                <a:cs typeface="Times New Roman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04F730-F10D-D6BE-E384-98C447FCBF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09" b="151"/>
          <a:stretch>
            <a:fillRect/>
          </a:stretch>
        </p:blipFill>
        <p:spPr>
          <a:xfrm>
            <a:off x="4654296" y="958722"/>
            <a:ext cx="6903720" cy="494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602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F4C2BD-914B-54D6-719B-93223E91B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>
                <a:latin typeface="Times New Roman"/>
                <a:cs typeface="Times New Roman"/>
              </a:rPr>
              <a:t>Blazar Subclasses (Backup)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E8C5C-7B93-2A99-526B-4B9422CD3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>
                <a:latin typeface="Times New Roman"/>
                <a:cs typeface="Times New Roman"/>
              </a:rPr>
              <a:t>Blazars divide into 2 subclasses: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cs typeface="Times New Roman"/>
              </a:rPr>
              <a:t>Flat Spectrum Radio Quasars (FSRQs):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cs typeface="Times New Roman"/>
              </a:rPr>
              <a:t>Generally higher redshifts</a:t>
            </a:r>
            <a:endParaRPr lang="en-US" sz="2000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cs typeface="Times New Roman"/>
              </a:rPr>
              <a:t>Strong </a:t>
            </a:r>
            <a:r>
              <a:rPr lang="en-US" err="1">
                <a:latin typeface="Times New Roman"/>
                <a:cs typeface="Times New Roman"/>
              </a:rPr>
              <a:t>accre</a:t>
            </a:r>
            <a:r>
              <a:rPr lang="en-US">
                <a:latin typeface="Times New Roman"/>
                <a:cs typeface="Times New Roman"/>
              </a:rPr>
              <a:t>tion and jet power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cs typeface="Times New Roman"/>
              </a:rPr>
              <a:t>Stronger Emission Lines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cs typeface="Times New Roman"/>
              </a:rPr>
              <a:t>BL </a:t>
            </a:r>
            <a:r>
              <a:rPr lang="en-US" sz="2400" err="1">
                <a:latin typeface="Times New Roman"/>
                <a:cs typeface="Times New Roman"/>
              </a:rPr>
              <a:t>Lacartae</a:t>
            </a:r>
            <a:r>
              <a:rPr lang="en-US" sz="2400">
                <a:latin typeface="Times New Roman"/>
                <a:cs typeface="Times New Roman"/>
              </a:rPr>
              <a:t> Objects (BL Lacs)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cs typeface="Times New Roman"/>
              </a:rPr>
              <a:t>Lower Redshift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cs typeface="Times New Roman"/>
              </a:rPr>
              <a:t>Weaker accretion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cs typeface="Times New Roman"/>
              </a:rPr>
              <a:t>Little to no emission lines</a:t>
            </a:r>
          </a:p>
          <a:p>
            <a:pPr lvl="2">
              <a:buFont typeface="Wingdings" panose="020B0604020202020204" pitchFamily="34" charset="0"/>
              <a:buChar char="§"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E8F772-B838-1E2F-3B4A-22914333E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422829"/>
            <a:ext cx="5458968" cy="401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418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47F99-4FD4-63ED-63B1-CFF481AD0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4600">
                <a:latin typeface="Times New Roman"/>
                <a:cs typeface="Times New Roman"/>
              </a:rPr>
              <a:t>Setting the Stage: Blazars as Multi-Messenger Sources (backup)</a:t>
            </a:r>
          </a:p>
        </p:txBody>
      </p:sp>
      <p:sp>
        <p:nvSpPr>
          <p:cNvPr id="2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06ED-6BEC-D43C-149F-ACA9F558A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>
                <a:latin typeface="Times New Roman"/>
                <a:cs typeface="Times New Roman"/>
              </a:rPr>
              <a:t>There is an isotropic flux of high-energy neutrinos detected at IceCube, origin still unknown</a:t>
            </a:r>
          </a:p>
          <a:p>
            <a:r>
              <a:rPr lang="en-US" sz="2200">
                <a:latin typeface="Times New Roman"/>
                <a:cs typeface="Times New Roman"/>
              </a:rPr>
              <a:t>After roughly 15 years of searching, AGN are the strongest candidates: the blazar TXS 0506+056 is one such AGN</a:t>
            </a:r>
          </a:p>
          <a:p>
            <a:r>
              <a:rPr lang="en-US" sz="2200">
                <a:latin typeface="Times New Roman"/>
                <a:cs typeface="Times New Roman"/>
              </a:rPr>
              <a:t>TXS 0506+056: neutrino detection coincident with an elevated gamma-ray flare (Fermi-LAT): the first plausible neutrino–blazar association</a:t>
            </a:r>
          </a:p>
          <a:p>
            <a:endParaRPr lang="en-US" sz="220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08929D-6C2B-CA58-F5B6-0B1E043F99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5671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281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52B6D-DA38-894E-97BE-52D66A54F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>
                <a:latin typeface="Times New Roman" panose="02020603050405020304" pitchFamily="18" charset="0"/>
                <a:cs typeface="Times New Roman" panose="02020603050405020304" pitchFamily="18" charset="0"/>
              </a:rPr>
              <a:t>Blazar Parameters (Backup)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FC927-DD9D-0A57-7191-55FA0B1D5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NZ">
                <a:latin typeface="Times New Roman" panose="02020603050405020304" pitchFamily="18" charset="0"/>
                <a:cs typeface="Times New Roman" panose="02020603050405020304" pitchFamily="18" charset="0"/>
              </a:rPr>
              <a:t>Uniform sampling of our parameter space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Parameter ranges anchored to the fit ranges from Rodrigues et al. (2024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324 gamma-ray blazars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We avoid sampling parameters that are derivable from others, to preserve physical correlations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Key parameters: redshift, bulk Lorentz factor, magnetic field strength, and the injected hadron/lepton energy distributions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Hadronic and external-photon-field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strength sampled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as a continuous suppression factor</a:t>
            </a:r>
          </a:p>
        </p:txBody>
      </p:sp>
    </p:spTree>
    <p:extLst>
      <p:ext uri="{BB962C8B-B14F-4D97-AF65-F5344CB8AC3E}">
        <p14:creationId xmlns:p14="http://schemas.microsoft.com/office/powerpoint/2010/main" val="2716365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19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 Modelling and Analysis of Multi-Messenger Blazar Spectra</vt:lpstr>
      <vt:lpstr>Blazars and Neutrinos</vt:lpstr>
      <vt:lpstr>Project Overview</vt:lpstr>
      <vt:lpstr>Why Do This?</vt:lpstr>
      <vt:lpstr>High Energy Astro-particle Modelling: AM3</vt:lpstr>
      <vt:lpstr>PowerPoint Presentation</vt:lpstr>
      <vt:lpstr>Current SED Generation Pipeline</vt:lpstr>
      <vt:lpstr>Machine Learning Based Regression</vt:lpstr>
      <vt:lpstr>Stacked Regression Results</vt:lpstr>
      <vt:lpstr>IceCube Detectability (Neutrinos)</vt:lpstr>
      <vt:lpstr>PowerPoint Presentation</vt:lpstr>
      <vt:lpstr>Caveats and Drawbacks</vt:lpstr>
      <vt:lpstr>Next Steps</vt:lpstr>
      <vt:lpstr>References</vt:lpstr>
      <vt:lpstr>Questions</vt:lpstr>
      <vt:lpstr>Classification (Backup)</vt:lpstr>
      <vt:lpstr>Blazar Subclasses (Backup)</vt:lpstr>
      <vt:lpstr>Setting the Stage: Blazars as Multi-Messenger Sources (backup)</vt:lpstr>
      <vt:lpstr>Blazar Parameters (Backup)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2026-06-22T03:24:39Z</dcterms:created>
  <dcterms:modified xsi:type="dcterms:W3CDTF">2026-09-16T02:18:12Z</dcterms:modified>
</cp:coreProperties>
</file>